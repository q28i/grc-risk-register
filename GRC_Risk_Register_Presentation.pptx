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9448495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9448495" cy="13716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40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200EE"/>
                </a:solidFill>
                <a:latin typeface="Arial"/>
              </a:defRPr>
            </a:pPr>
            <a:r>
              <a:t>ACADEMIC CYBERSECURITY PROJECT</a:t>
            </a:r>
          </a:p>
          <a:p>
            <a:pPr>
              <a:spcAft>
                <a:spcPts val="600"/>
              </a:spcAft>
              <a:defRPr sz="3600" b="1">
                <a:solidFill>
                  <a:srgbClr val="212121"/>
                </a:solidFill>
                <a:latin typeface="Arial"/>
              </a:defRPr>
            </a:pPr>
            <a:r>
              <a:t>GRC Risk Register</a:t>
            </a:r>
          </a:p>
          <a:p>
            <a:pPr>
              <a:spcAft>
                <a:spcPts val="2400"/>
              </a:spcAft>
              <a:defRPr sz="1800">
                <a:solidFill>
                  <a:srgbClr val="616161"/>
                </a:solidFill>
                <a:latin typeface="Arial"/>
              </a:defRPr>
            </a:pPr>
            <a:r>
              <a:t>Cybersecurity Risk Management System</a:t>
            </a:r>
          </a:p>
          <a:p>
            <a:pPr>
              <a:spcAft>
                <a:spcPts val="2800"/>
              </a:spcAft>
              <a:defRPr sz="1200">
                <a:solidFill>
                  <a:srgbClr val="212121"/>
                </a:solidFill>
                <a:latin typeface="Arial"/>
              </a:defRPr>
            </a:pPr>
            <a:r>
              <a:t>A lightweight, deterministic qualitative risk management system with interactive matrix scoring and audit trail.</a:t>
            </a:r>
          </a:p>
          <a:p>
            <a:pPr>
              <a:defRPr sz="1050" b="1">
                <a:solidFill>
                  <a:srgbClr val="3700B3"/>
                </a:solidFill>
                <a:latin typeface="Arial"/>
              </a:defRPr>
            </a:pPr>
            <a:r>
              <a:t>Author: Tanvi Mishra  |  Domain: Information Security &amp; GRC  |  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Problem Statement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Why manual risk management and static spreadsheets fail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Spreadsheet Chaos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Static Excel files cause severe version conflicts and accidental overwrites.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No multi-user access synchronization or change accountability.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High risk of corrupted records and data loss.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Disconnected Assets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Cybersecurity threats evaluated without linking to physical or cloud assets.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Difficult to identify which critical database or service is exposed.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Lack of organizational asset 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Subjective Scoring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Inconsistent ratings assigned by different security analysts.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Lack of a transparent mathematical calculation model.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Vague severity classifications create confusion in triage.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9476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Lost Accountability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Risks identified once and forgotten in static documents.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No structured status lifecycle (Open -&gt; In Progress -&gt; Treated).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Zero audit trail tracking who modified risk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What the GRC Risk Register system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1. Unified Asset Inventory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Maintain structured records of systems, databases, devices, and cloud services.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Categorize assets into Data, System, Device, and Service.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Assign business importance ratings (Low, Medium, High).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2. Threat Scenario Register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Link cybersecurity risks directly to affected organizational assets.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Capture threat titles, consequence narratives, and ownership.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Support soft-archiving to maintain historical referential integrity.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3. Deterministic Scoring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Compute risk severity using a reproducible formula: Score = Likelihood x Impact.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Map scores strictly into Low (1-2), Medium (3-4), and High (6-9).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Standardize triage using an interactive 3x3 risk matrix heatmap.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9476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59352"/>
            <a:ext cx="489204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4. Lifecycle Tracking &amp; Reports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Track status across Open, In Progress, Treated, and Closed phases.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Generate browser-native printable executive reports.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Export RFC-4180 compliant CSV datasets for external auditing.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Main Application Features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Core capabilities implemented in the Single-Page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Authentication &amp; RBAC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Session token authentication.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Role separation (Admin vs Analyst).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Instant session termination on logout.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Executive Dashboard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Top 4 summary metric KPI cards.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Interactive 3x3 Risk Matrix Heatmap.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Severity breakdown progress bars.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371600"/>
            <a:ext cx="3474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3619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Asset Register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Auto ID generation (AST-001).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Asset criticality ratings.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Safe soft-archiving &amp; filtering.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3474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935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Risk Register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Threat-to-asset relational linkage.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Real-time modal calculation preview.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4-stage lifecycle treatment tracking.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794760"/>
            <a:ext cx="3474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5935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Reports &amp; CSV Export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Browser-native printable summary.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One-click CSV dataset download.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Executive risk metrics overview.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3794760"/>
            <a:ext cx="34747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959352"/>
            <a:ext cx="3108960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Audit &amp; Governance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Immutable event logging trail.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Admin feature control toggles.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Zero exposed user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Risk Scoring Model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Deterministic calculation and the 3x3 qualitative risk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6200EE"/>
                </a:solidFill>
                <a:latin typeface="Arial"/>
              </a:defRPr>
            </a:pPr>
            <a:r>
              <a:t>Mathematical Model</a:t>
            </a:r>
          </a:p>
          <a:p>
            <a:pPr>
              <a:spcAft>
                <a:spcPts val="1400"/>
              </a:spcAft>
              <a:defRPr sz="1100" b="1">
                <a:solidFill>
                  <a:srgbClr val="3700B3"/>
                </a:solidFill>
                <a:latin typeface="Arial"/>
              </a:defRPr>
            </a:pPr>
            <a:r>
              <a:t>Score = Likelihood (1–3) × Impact (1–3)</a:t>
            </a:r>
          </a:p>
          <a:p>
            <a:pPr>
              <a:spcAft>
                <a:spcPts val="8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Likelihood Scale (1 to 3):</a:t>
            </a:r>
            <a:br/>
            <a:r>
              <a:t>  1 = Low (Rare), 2 = Medium (Possible), 3 = High (Frequent)</a:t>
            </a:r>
          </a:p>
          <a:p>
            <a:pPr>
              <a:spcAft>
                <a:spcPts val="8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Impact Scale (1 to 3):</a:t>
            </a:r>
            <a:br/>
            <a:r>
              <a:t>  1 = Low (Minor), 2 = Medium (Moderate), 3 = High (Critical)</a:t>
            </a:r>
          </a:p>
          <a:p>
            <a:pPr>
              <a:spcAft>
                <a:spcPts val="8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Severity Classification:</a:t>
            </a:r>
            <a:br/>
            <a:r>
              <a:t>  • Low Risk (Score 1–2): Routine monitoring</a:t>
            </a:r>
            <a:br/>
            <a:r>
              <a:t>  • Medium Risk (Score 3–4): Planned remediation</a:t>
            </a:r>
            <a:br/>
            <a:r>
              <a:t>  • High Risk (Score 6–9): Immediate mitigation</a:t>
            </a:r>
          </a:p>
          <a:p>
            <a:pPr>
              <a:spcAft>
                <a:spcPts val="8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Deterministic &amp; Transparent:</a:t>
            </a:r>
            <a:br/>
            <a:r>
              <a:t>  Eliminates subjective guesswork during risk 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371600"/>
            <a:ext cx="643097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50876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200EE"/>
                </a:solidFill>
                <a:latin typeface="Arial"/>
              </a:defRPr>
            </a:pPr>
            <a:r>
              <a:t>The 3 × 3 Qualitative Risk Matrix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212080" y="2011680"/>
          <a:ext cx="6035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463040"/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\ Impact</a:t>
                      </a:r>
                    </a:p>
                  </a:txBody>
                  <a:tcPr>
                    <a:solidFill>
                      <a:srgbClr val="370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Low (1)</a:t>
                      </a:r>
                    </a:p>
                  </a:txBody>
                  <a:tcPr>
                    <a:solidFill>
                      <a:srgbClr val="370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Medium (2)</a:t>
                      </a:r>
                    </a:p>
                  </a:txBody>
                  <a:tcPr>
                    <a:solidFill>
                      <a:srgbClr val="370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High (3)</a:t>
                      </a:r>
                    </a:p>
                  </a:txBody>
                  <a:tcPr>
                    <a:solidFill>
                      <a:srgbClr val="3700B3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High (3)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5100"/>
                          </a:solidFill>
                          <a:latin typeface="Arial"/>
                        </a:defRPr>
                      </a:pPr>
                      <a:r>
                        <a:t>Score 3 (Med)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Score 6 (High)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Score 9 (High)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Medium (2)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Score 2 (Low)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5100"/>
                          </a:solidFill>
                          <a:latin typeface="Arial"/>
                        </a:defRPr>
                      </a:pPr>
                      <a:r>
                        <a:t>Score 4 (Med)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62828"/>
                          </a:solidFill>
                          <a:latin typeface="Arial"/>
                        </a:defRPr>
                      </a:pPr>
                      <a:r>
                        <a:t>Score 6 (High)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t>Low (1)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Score 1 (Low)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Score 2 (Low)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65100"/>
                          </a:solidFill>
                          <a:latin typeface="Arial"/>
                        </a:defRPr>
                      </a:pPr>
                      <a:r>
                        <a:t>Score 3 (Med)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Zero-dependency four-tier web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7860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578608" cy="7772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2395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1: Client Browser</a:t>
            </a:r>
          </a:p>
          <a:p>
            <a:pPr>
              <a:defRPr sz="850">
                <a:solidFill>
                  <a:srgbClr val="DCCDFC"/>
                </a:solidFill>
                <a:latin typeface="Arial"/>
              </a:defRPr>
            </a:pPr>
            <a:r>
              <a:t>Web Browser (Chrome, Firefox, Edge)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2359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Renders user interface and views.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Captures user inputs and form submissions.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Stores session token securely in localStorage.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Executes client-side tab routing.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463040"/>
            <a:ext cx="257860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463040"/>
            <a:ext cx="2578608" cy="777240"/>
          </a:xfrm>
          <a:prstGeom prst="rect">
            <a:avLst/>
          </a:prstGeom>
          <a:solidFill>
            <a:srgbClr val="37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536192"/>
            <a:ext cx="2395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2: Frontend SPA</a:t>
            </a:r>
          </a:p>
          <a:p>
            <a:pPr>
              <a:defRPr sz="850">
                <a:solidFill>
                  <a:srgbClr val="DCCDFC"/>
                </a:solidFill>
                <a:latin typeface="Arial"/>
              </a:defRPr>
            </a:pPr>
            <a:r>
              <a:t>Vanilla HTML5 + CSS3 + ES6 JavaScript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31720"/>
            <a:ext cx="2359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Pure Single-Page Application (SPA).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Asynchronous fetch API communication.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Real-time modal calculation preview.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Zero external JavaScript frameworks required.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463040"/>
            <a:ext cx="257860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463040"/>
            <a:ext cx="2578608" cy="7772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536192"/>
            <a:ext cx="2395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3: Backend Server</a:t>
            </a:r>
          </a:p>
          <a:p>
            <a:pPr>
              <a:defRPr sz="850">
                <a:solidFill>
                  <a:srgbClr val="DCCDFC"/>
                </a:solidFill>
                <a:latin typeface="Arial"/>
              </a:defRPr>
            </a:pPr>
            <a:r>
              <a:t>Python Standard Library (http.server)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331720"/>
            <a:ext cx="2359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Handles REST API routing.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Authenticates Bearer session tokens.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Enforces server-side RBAC guards (401/403).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Validates incoming JSON request payloads.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06256" y="1463040"/>
            <a:ext cx="257860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463040"/>
            <a:ext cx="2578608" cy="777240"/>
          </a:xfrm>
          <a:prstGeom prst="rect">
            <a:avLst/>
          </a:prstGeom>
          <a:solidFill>
            <a:srgbClr val="370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1536192"/>
            <a:ext cx="23957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4: Persistence</a:t>
            </a:r>
          </a:p>
          <a:p>
            <a:pPr>
              <a:defRPr sz="850">
                <a:solidFill>
                  <a:srgbClr val="DCCDFC"/>
                </a:solidFill>
                <a:latin typeface="Arial"/>
              </a:defRPr>
            </a:pPr>
            <a:r>
              <a:t>SQLite 3 Embedded Database (sqlite3)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2331720"/>
            <a:ext cx="2359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ACID-compliant relational database.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Stores users, assets, risks, controls, and logs.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Protects passwords with PBKDF2 hashing.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Zero external database servers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Security Architecture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Layered defensive engineering and least-privilege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06654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2066543" cy="64008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Password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PBKDF2-HMAC-SHA256 algorithm.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100,000 hash iterations.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Unique 16-byte random salt per user.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Passwords never stored in plaintext.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1463040"/>
            <a:ext cx="206654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1463040"/>
            <a:ext cx="2066543" cy="64008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3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Session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1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Cryptographically random 32-byte tokens.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Bearer token transmission via HTTP headers.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Server-side token validation on every request.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Immediate token revocation on user logout.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4064" y="1463040"/>
            <a:ext cx="206654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84064" y="1463040"/>
            <a:ext cx="2066543" cy="64008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Role-Based Access (RBAC)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Server-side privilege separation.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Administrator: Full system &amp; audit control.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Risk Analyst: Asset and risk operations.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Protected routes reject unprivileged users (403).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0336" y="1463040"/>
            <a:ext cx="206654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0336" y="1463040"/>
            <a:ext cx="2066543" cy="64008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Strict schema and type checking on API.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Bounds validation on Likelihood &amp; Impact (1-3).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Foreign key relational validation on assets.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HTML escaping to mitigate XSS vulnerabilities.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36608" y="1463040"/>
            <a:ext cx="2066543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36608" y="1463040"/>
            <a:ext cx="2066543" cy="64008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Immutable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240280"/>
            <a:ext cx="18836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Server-side immutable event logger.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Captures user ID, username, action, and time.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Records all asset and risk modifications.</a:t>
            </a:r>
          </a:p>
          <a:p>
            <a:pPr>
              <a:spcAft>
                <a:spcPts val="600"/>
              </a:spcAft>
              <a:defRPr sz="950">
                <a:solidFill>
                  <a:srgbClr val="212121"/>
                </a:solidFill>
                <a:latin typeface="Arial"/>
              </a:defRPr>
            </a:pPr>
            <a:r>
              <a:t>• Provides complete operational traceability.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Application Screens &amp; User Interface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Clean flat Material interface designed for risk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92608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0" y="155448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200EE"/>
                </a:solidFill>
                <a:latin typeface="Arial"/>
              </a:defRPr>
            </a:pPr>
            <a:r>
              <a:t>Executive Dashboard</a:t>
            </a:r>
          </a:p>
          <a:p>
            <a:pPr>
              <a:defRPr sz="950">
                <a:solidFill>
                  <a:srgbClr val="616161"/>
                </a:solidFill>
                <a:latin typeface="Arial"/>
              </a:defRPr>
            </a:pPr>
            <a:r>
              <a:t>KPI summary cards, interactive 3x3 risk matrix heatmap, and severity bars.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ass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481328"/>
            <a:ext cx="2926080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0" y="155448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200EE"/>
                </a:solidFill>
                <a:latin typeface="Arial"/>
              </a:defRPr>
            </a:pPr>
            <a:r>
              <a:t>Organizational Assets</a:t>
            </a:r>
          </a:p>
          <a:p>
            <a:pPr>
              <a:defRPr sz="950">
                <a:solidFill>
                  <a:srgbClr val="616161"/>
                </a:solidFill>
                <a:latin typeface="Arial"/>
              </a:defRPr>
            </a:pPr>
            <a:r>
              <a:t>Asset register with categorization, importance ratings, and soft-archiving.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9476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_ris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04488"/>
            <a:ext cx="292608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86200" y="397764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200EE"/>
                </a:solidFill>
                <a:latin typeface="Arial"/>
              </a:defRPr>
            </a:pPr>
            <a:r>
              <a:t>Risk Register</a:t>
            </a:r>
          </a:p>
          <a:p>
            <a:pPr>
              <a:defRPr sz="950">
                <a:solidFill>
                  <a:srgbClr val="616161"/>
                </a:solidFill>
                <a:latin typeface="Arial"/>
              </a:defRPr>
            </a:pPr>
            <a:r>
              <a:t>Threat scenario evaluation with dynamic scoring preview and status tracking.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reen_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3904488"/>
            <a:ext cx="292608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0" y="3977640"/>
            <a:ext cx="1965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6200EE"/>
                </a:solidFill>
                <a:latin typeface="Arial"/>
              </a:defRPr>
            </a:pPr>
            <a:r>
              <a:t>Printable Reports &amp; CSV</a:t>
            </a:r>
          </a:p>
          <a:p>
            <a:pPr>
              <a:defRPr sz="950">
                <a:solidFill>
                  <a:srgbClr val="616161"/>
                </a:solidFill>
                <a:latin typeface="Arial"/>
              </a:defRPr>
            </a:pPr>
            <a:r>
              <a:t>Formatted risk register report ready for browser printing and CSV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Verification &amp; Testing Results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100% automated test coverage across all subsystems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78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304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16161"/>
                </a:solidFill>
                <a:latin typeface="Arial"/>
              </a:defRPr>
            </a:pPr>
            <a:r>
              <a:t>TOTAL AUTOMATED TESTS</a:t>
            </a:r>
          </a:p>
          <a:p>
            <a:pPr>
              <a:defRPr sz="2200" b="1">
                <a:solidFill>
                  <a:srgbClr val="6200EE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371600"/>
            <a:ext cx="2578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463040"/>
            <a:ext cx="2304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16161"/>
                </a:solidFill>
                <a:latin typeface="Arial"/>
              </a:defRPr>
            </a:pPr>
            <a:r>
              <a:t>FAILURES / ERRORS</a:t>
            </a:r>
          </a:p>
          <a:p>
            <a:pPr>
              <a:defRPr sz="2200" b="1">
                <a:solidFill>
                  <a:srgbClr val="2E7D32"/>
                </a:solidFill>
                <a:latin typeface="Arial"/>
              </a:defRPr>
            </a:pPr>
            <a:r>
              <a:t>0 /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371600"/>
            <a:ext cx="2578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463040"/>
            <a:ext cx="2304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16161"/>
                </a:solidFill>
                <a:latin typeface="Arial"/>
              </a:defRPr>
            </a:pPr>
            <a:r>
              <a:t>PASS RATE</a:t>
            </a:r>
          </a:p>
          <a:p>
            <a:pPr>
              <a:defRPr sz="2200" b="1">
                <a:solidFill>
                  <a:srgbClr val="2E7D32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371600"/>
            <a:ext cx="2578608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463040"/>
            <a:ext cx="23042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16161"/>
                </a:solidFill>
                <a:latin typeface="Arial"/>
              </a:defRPr>
            </a:pPr>
            <a:r>
              <a:t>EXECUTION DURATION</a:t>
            </a:r>
          </a:p>
          <a:p>
            <a:pPr>
              <a:defRPr sz="2200" b="1">
                <a:solidFill>
                  <a:srgbClr val="212121"/>
                </a:solidFill>
                <a:latin typeface="Arial"/>
              </a:defRPr>
            </a:pPr>
            <a:r>
              <a:t>&lt; 2.5s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257860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16352"/>
            <a:ext cx="2212848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Calculator &amp; Engine Tests (6/6)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All 9 Cartesian coordinate pairs verified.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Score range bounds and type validation.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Matrix grid definition structure confirmed.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2651760"/>
            <a:ext cx="257860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816352"/>
            <a:ext cx="2212848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Authentication &amp; RBAC Tests (7/7)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PBKDF2 password hashing &amp; salting.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Session token lifecycle &amp; expiration.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401 unauthenticated &amp; 403 RBAC denial.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651760"/>
            <a:ext cx="257860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816352"/>
            <a:ext cx="2212848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Asset &amp; Risk CRUD Tests (9/9)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Asset creation &amp; AST-xxx auto-numbering.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Soft-archiving &amp; restore capabilities.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Risk creation, scoring &amp; status lifecycle.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6256" y="2651760"/>
            <a:ext cx="257860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2816352"/>
            <a:ext cx="2212848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Controls &amp; Live Audits (10/10)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29 granular feature availability toggles.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Demo mutation rejection guards (403).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Live server integration checks passed.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20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Key Learnings</a:t>
            </a:r>
          </a:p>
          <a:p>
            <a:pPr>
              <a:defRPr sz="1100">
                <a:solidFill>
                  <a:srgbClr val="DCCDFC"/>
                </a:solidFill>
                <a:latin typeface="Arial"/>
              </a:defRPr>
            </a:pPr>
            <a:r>
              <a:t>Summary of project achievements and academic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16161"/>
                </a:solidFill>
                <a:latin typeface="Arial"/>
              </a:defRPr>
            </a:pPr>
            <a:r>
              <a:t>GRC Risk Register — Cybersecurity Risk Management System | Academic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474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31089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Project Achievements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Built a portable, self-contained Cybersecurity Risk Management System with zero external dependencies.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Replaced error-prone spreadsheets with a structured relational database model.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Implemented deterministic 3x3 qualitative risk calculation complying with NIST guidelines.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Delivered real-time dashboard visibility, interactive matrix filtering, and printable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27632"/>
            <a:ext cx="31089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Key Technical Learnings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End-to-end Single-Page Application (SPA) design with vanilla web technologies.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Implementation of cryptographically salted password hashing and session tokens.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Strict server-side Role-Based Access Control (RBAC) and input validation.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Comprehensive test-driven engineering achieving 100% automated test coverage.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463040"/>
            <a:ext cx="34747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27632"/>
            <a:ext cx="3108960" cy="4334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200EE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More granular threat actor and vulnerability classification criteria.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Customizable multi-parameter PDF reporting and automated email digests.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Enhanced bulk data import/export utilities for enterprise scalability.</a:t>
            </a:r>
          </a:p>
          <a:p>
            <a:pPr>
              <a:spcAft>
                <a:spcPts val="400"/>
              </a:spcAft>
              <a:defRPr sz="1050">
                <a:solidFill>
                  <a:srgbClr val="212121"/>
                </a:solidFill>
                <a:latin typeface="Arial"/>
              </a:defRPr>
            </a:pPr>
            <a:r>
              <a:t>•  Additional authentication mechanisms such as Multi-Factor Authentication (MFA).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